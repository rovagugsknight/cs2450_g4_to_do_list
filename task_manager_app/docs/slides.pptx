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Nuni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-regular.fntdata"/><Relationship Id="rId25" Type="http://schemas.openxmlformats.org/officeDocument/2006/relationships/slide" Target="slides/slide20.xml"/><Relationship Id="rId28" Type="http://schemas.openxmlformats.org/officeDocument/2006/relationships/font" Target="fonts/Nunito-italic.fntdata"/><Relationship Id="rId27" Type="http://schemas.openxmlformats.org/officeDocument/2006/relationships/font" Target="fonts/Nuni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Andy is the goat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🐐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d0f2014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d0f2014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d0f2014b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dd0f2014b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d46e7381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d46e738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4b3ce32c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4b3ce32c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4b3ce32c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4b3ce32c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4c62a3111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4c62a3111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d0f2014b1_2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d0f2014b1_2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d4c62a31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d4c62a31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4c62a3111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4c62a3111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d4c62a311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d4c62a311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4b3ce32c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4b3ce32c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dd0f2014b1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dd0f2014b1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d4b3ce32c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d4b3ce32c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dd46e7381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dd46e7381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dd46e7381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dd46e7381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d46e7381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dd46e7381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dd46e7381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dd46e7381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dd46e73816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dd46e73816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dd0f2014b1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dd0f2014b1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Task List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4572000" y="199072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Purpose: to Track tasks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Audience: Anyone </a:t>
            </a:r>
            <a:r>
              <a:rPr lang="en"/>
              <a:t>with</a:t>
            </a:r>
            <a:r>
              <a:rPr lang="en"/>
              <a:t> a Busy schedule; Students, managers, employees, parents.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Main Problem Solved: Organize Schedule by Keeping track of to-do’s.</a:t>
            </a:r>
            <a:endParaRPr/>
          </a:p>
        </p:txBody>
      </p:sp>
      <p:pic>
        <p:nvPicPr>
          <p:cNvPr id="136" name="Google Shape;13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150" y="1695475"/>
            <a:ext cx="3749638" cy="303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Outstanding Features</a:t>
            </a:r>
            <a:endParaRPr/>
          </a:p>
        </p:txBody>
      </p:sp>
      <p:sp>
        <p:nvSpPr>
          <p:cNvPr id="142" name="Google Shape;142;p15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Categories: Color changing tasks based on categories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Task View: Card UI layout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Editing Task: Able to edit all parts of the task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Hamburger menu options: Create and remove category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Local Database: Stores tasks locally </a:t>
            </a:r>
            <a:r>
              <a:rPr lang="en"/>
              <a:t>rather</a:t>
            </a:r>
            <a:r>
              <a:rPr lang="en"/>
              <a:t> than on the Cloud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7B51"/>
                </a:solidFill>
              </a:rPr>
              <a:t>Card View UI</a:t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819150" y="1990725"/>
            <a:ext cx="37530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33A44"/>
                </a:solidFill>
              </a:rPr>
              <a:t>What it shows:</a:t>
            </a:r>
            <a:endParaRPr b="1">
              <a:solidFill>
                <a:srgbClr val="233A44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33A44"/>
                </a:solidFill>
              </a:rPr>
              <a:t>●Title, description, deadline, category</a:t>
            </a:r>
            <a:endParaRPr>
              <a:solidFill>
                <a:srgbClr val="233A44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33A44"/>
                </a:solidFill>
              </a:rPr>
              <a:t>●Buttons for edit/delete/mark done</a:t>
            </a:r>
            <a:endParaRPr>
              <a:solidFill>
                <a:srgbClr val="233A44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33A44"/>
                </a:solidFill>
              </a:rPr>
              <a:t>●Cards change color based on categories</a:t>
            </a:r>
            <a:endParaRPr>
              <a:solidFill>
                <a:srgbClr val="233A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33A44"/>
                </a:solidFill>
              </a:rPr>
              <a:t>Why it matters:</a:t>
            </a:r>
            <a:r>
              <a:rPr lang="en">
                <a:solidFill>
                  <a:srgbClr val="233A44"/>
                </a:solidFill>
              </a:rPr>
              <a:t> Controller tests ensure the UI always displays accurate data.</a:t>
            </a:r>
            <a:endParaRPr>
              <a:solidFill>
                <a:srgbClr val="233A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473450"/>
            <a:ext cx="3857100" cy="296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Categories</a:t>
            </a:r>
            <a:endParaRPr/>
          </a:p>
        </p:txBody>
      </p:sp>
      <p:sp>
        <p:nvSpPr>
          <p:cNvPr id="155" name="Google Shape;155;p17"/>
          <p:cNvSpPr txBox="1"/>
          <p:nvPr>
            <p:ph idx="1" type="body"/>
          </p:nvPr>
        </p:nvSpPr>
        <p:spPr>
          <a:xfrm>
            <a:off x="407675" y="19798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52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   How to</a:t>
            </a:r>
            <a:r>
              <a:rPr b="1" lang="en"/>
              <a:t>:</a:t>
            </a:r>
            <a:endParaRPr b="1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Write category name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Pick color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Select category for new task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   </a:t>
            </a:r>
            <a:r>
              <a:rPr b="1" lang="en"/>
              <a:t>Why It Matters: </a:t>
            </a:r>
            <a:r>
              <a:rPr lang="en"/>
              <a:t>Allows user to  create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groups for for their tasks. Great for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organizing  tasks.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56" name="Google Shape;156;p17" title="create_category_popu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27575" y="226675"/>
            <a:ext cx="5360076" cy="2582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title="new_ca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7575" y="2928000"/>
            <a:ext cx="5360074" cy="19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Deleting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Categories</a:t>
            </a:r>
            <a:endParaRPr/>
          </a:p>
        </p:txBody>
      </p:sp>
      <p:sp>
        <p:nvSpPr>
          <p:cNvPr id="163" name="Google Shape;163;p18"/>
          <p:cNvSpPr txBox="1"/>
          <p:nvPr>
            <p:ph idx="1" type="body"/>
          </p:nvPr>
        </p:nvSpPr>
        <p:spPr>
          <a:xfrm>
            <a:off x="429325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to: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Select</a:t>
            </a:r>
            <a:r>
              <a:rPr lang="en"/>
              <a:t> category to delete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Press submit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Effects: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Category gone from selection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Tasks that were part of that category lose color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Why it Matters: </a:t>
            </a:r>
            <a:r>
              <a:rPr lang="en"/>
              <a:t>Allows user to remove categories that </a:t>
            </a:r>
            <a:r>
              <a:rPr lang="en"/>
              <a:t>a</a:t>
            </a:r>
            <a:r>
              <a:rPr lang="en"/>
              <a:t>ren’t  relevant anymore.</a:t>
            </a:r>
            <a:endParaRPr/>
          </a:p>
        </p:txBody>
      </p:sp>
      <p:pic>
        <p:nvPicPr>
          <p:cNvPr id="164" name="Google Shape;164;p18" title="removing_categor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3175" y="369150"/>
            <a:ext cx="5568448" cy="114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title="cat_gon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83175" y="1650250"/>
            <a:ext cx="5568449" cy="149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Pop-up Task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171" name="Google Shape;171;p19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to: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Click on Task Name to add task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The pop-up features </a:t>
            </a:r>
            <a:r>
              <a:rPr lang="en"/>
              <a:t>show</a:t>
            </a:r>
            <a:r>
              <a:rPr lang="en"/>
              <a:t> up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Effects:</a:t>
            </a:r>
            <a:endParaRPr b="1"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Let’s you describe your task the way you want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You can add deadline, description, categories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19" title="Screenshot 2026-04-06 at 9.21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4825" y="246374"/>
            <a:ext cx="3737777" cy="303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title="Screenshot 2026-04-06 at 9.21.29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4825" y="246374"/>
            <a:ext cx="3737777" cy="3032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title="Screenshot 2026-04-06 at 9.21.3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9678" y="1990723"/>
            <a:ext cx="3737777" cy="3032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Processes</a:t>
            </a:r>
            <a:endParaRPr/>
          </a:p>
        </p:txBody>
      </p:sp>
      <p:sp>
        <p:nvSpPr>
          <p:cNvPr id="180" name="Google Shape;180;p20"/>
          <p:cNvSpPr txBox="1"/>
          <p:nvPr>
            <p:ph idx="1" type="body"/>
          </p:nvPr>
        </p:nvSpPr>
        <p:spPr>
          <a:xfrm>
            <a:off x="819150" y="1800200"/>
            <a:ext cx="7505700" cy="29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Weekly meetings organized by the scrum master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Roles switched every other week 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Tasks assigned and added to the backlog every meeting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Here are our UML diagrams and wireframe: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UML Diagram</a:t>
            </a:r>
            <a:endParaRPr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Design Pattern:</a:t>
            </a:r>
            <a:r>
              <a:rPr lang="en"/>
              <a:t> This is our diagram that explains how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to do app works. We used an MVC design pattern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hich shows the data, logic, and UI for our app.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it works:</a:t>
            </a:r>
            <a:r>
              <a:rPr lang="en"/>
              <a:t> If a user types in a task in view, it sends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to the </a:t>
            </a:r>
            <a:r>
              <a:rPr lang="en"/>
              <a:t>controller </a:t>
            </a:r>
            <a:r>
              <a:rPr lang="en">
                <a:solidFill>
                  <a:srgbClr val="000000"/>
                </a:solidFill>
              </a:rPr>
              <a:t>The Controller takes that text and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passes it to the TaskRepository in the Model, which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saves it to the database. By keeping these three lanes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 separate, our code is much easier to test, fix, and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upgrade.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1" title="Screenshot 2026-04-06 at 8.46.21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9" y="366650"/>
            <a:ext cx="4096301" cy="448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Case</a:t>
            </a:r>
            <a:endParaRPr/>
          </a:p>
        </p:txBody>
      </p:sp>
      <p:sp>
        <p:nvSpPr>
          <p:cNvPr id="193" name="Google Shape;193;p22"/>
          <p:cNvSpPr txBox="1"/>
          <p:nvPr>
            <p:ph idx="1" type="body"/>
          </p:nvPr>
        </p:nvSpPr>
        <p:spPr>
          <a:xfrm>
            <a:off x="647050" y="20002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UX</a:t>
            </a:r>
            <a:r>
              <a:rPr lang="en"/>
              <a:t>: Here is our use case diagram which shows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Everything that user can do in our to-do list app.</a:t>
            </a:r>
            <a:endParaRPr/>
          </a:p>
        </p:txBody>
      </p:sp>
      <p:pic>
        <p:nvPicPr>
          <p:cNvPr id="194" name="Google Shape;194;p22" title="Screenshot 2026-04-06 at 8.55.2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0950" y="770400"/>
            <a:ext cx="4505175" cy="3756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Wireframe</a:t>
            </a:r>
            <a:endParaRPr/>
          </a:p>
        </p:txBody>
      </p:sp>
      <p:pic>
        <p:nvPicPr>
          <p:cNvPr id="200" name="Google Shape;200;p23" title="Screenshot 2026-04-06 at 8.59.39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250" y="1531300"/>
            <a:ext cx="7701545" cy="303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</a:t>
            </a:r>
            <a:r>
              <a:rPr lang="en"/>
              <a:t> analysis</a:t>
            </a:r>
            <a:endParaRPr/>
          </a:p>
        </p:txBody>
      </p:sp>
      <p:sp>
        <p:nvSpPr>
          <p:cNvPr id="206" name="Google Shape;206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Requirements: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Project requirements in the SRS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/>
              <a:t>Functional Requirements: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Ability to add, delete, edit, categorize, and mark tasks done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Task model will include task id, name, description, deadline, and done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The system shall include an abstract repository interface for storing tasks</a:t>
            </a:r>
            <a:endParaRPr sz="1100"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 sz="1100"/>
              <a:t>Tasks will persist in local storage for the user to access at any time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type="title"/>
          </p:nvPr>
        </p:nvSpPr>
        <p:spPr>
          <a:xfrm>
            <a:off x="819150" y="845600"/>
            <a:ext cx="4375200" cy="7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Practices</a:t>
            </a:r>
            <a:endParaRPr/>
          </a:p>
        </p:txBody>
      </p:sp>
      <p:sp>
        <p:nvSpPr>
          <p:cNvPr id="212" name="Google Shape;212;p25"/>
          <p:cNvSpPr txBox="1"/>
          <p:nvPr>
            <p:ph idx="1" type="body"/>
          </p:nvPr>
        </p:nvSpPr>
        <p:spPr>
          <a:xfrm>
            <a:off x="819150" y="1545475"/>
            <a:ext cx="5467200" cy="289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33A44"/>
                </a:solidFill>
              </a:rPr>
              <a:t>Design Principles</a:t>
            </a:r>
            <a:endParaRPr b="1" sz="1000">
              <a:solidFill>
                <a:srgbClr val="233A44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000"/>
              <a:buChar char="●"/>
            </a:pPr>
            <a:r>
              <a:rPr b="1" lang="en" sz="1000">
                <a:solidFill>
                  <a:srgbClr val="233A44"/>
                </a:solidFill>
              </a:rPr>
              <a:t>MVC architecture</a:t>
            </a:r>
            <a:r>
              <a:rPr lang="en" sz="1000">
                <a:solidFill>
                  <a:srgbClr val="233A44"/>
                </a:solidFill>
              </a:rPr>
              <a:t> to separate UI, logic, and data</a:t>
            </a:r>
            <a:endParaRPr sz="1000">
              <a:solidFill>
                <a:srgbClr val="233A44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000"/>
              <a:buChar char="●"/>
            </a:pPr>
            <a:r>
              <a:rPr b="1" lang="en" sz="1000">
                <a:solidFill>
                  <a:srgbClr val="233A44"/>
                </a:solidFill>
              </a:rPr>
              <a:t>SOLID principles</a:t>
            </a:r>
            <a:r>
              <a:rPr lang="en" sz="1000">
                <a:solidFill>
                  <a:srgbClr val="233A44"/>
                </a:solidFill>
              </a:rPr>
              <a:t> to keep classes focused, extendable, and maintainable</a:t>
            </a:r>
            <a:endParaRPr sz="1000">
              <a:solidFill>
                <a:srgbClr val="233A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33A44"/>
                </a:solidFill>
              </a:rPr>
              <a:t>Design Patterns</a:t>
            </a:r>
            <a:endParaRPr b="1" sz="1000">
              <a:solidFill>
                <a:srgbClr val="233A44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000"/>
              <a:buChar char="●"/>
            </a:pPr>
            <a:r>
              <a:rPr b="1" lang="en" sz="1000">
                <a:solidFill>
                  <a:srgbClr val="233A44"/>
                </a:solidFill>
              </a:rPr>
              <a:t>Singleton</a:t>
            </a:r>
            <a:r>
              <a:rPr lang="en" sz="1000">
                <a:solidFill>
                  <a:srgbClr val="233A44"/>
                </a:solidFill>
              </a:rPr>
              <a:t> used for shared configuration/state where only one instance should exist</a:t>
            </a:r>
            <a:endParaRPr sz="1000">
              <a:solidFill>
                <a:srgbClr val="233A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33A44"/>
                </a:solidFill>
              </a:rPr>
              <a:t>Testing Practices</a:t>
            </a:r>
            <a:endParaRPr sz="1000"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 sz="1000">
                <a:solidFill>
                  <a:srgbClr val="233A44"/>
                </a:solidFill>
              </a:rPr>
              <a:t>Wrote </a:t>
            </a:r>
            <a:r>
              <a:rPr b="1" lang="en" sz="1000">
                <a:solidFill>
                  <a:srgbClr val="233A44"/>
                </a:solidFill>
              </a:rPr>
              <a:t>unit tests</a:t>
            </a:r>
            <a:r>
              <a:rPr lang="en" sz="1000">
                <a:solidFill>
                  <a:srgbClr val="233A44"/>
                </a:solidFill>
              </a:rPr>
              <a:t> for core controller and repository functions</a:t>
            </a:r>
            <a:endParaRPr sz="1000"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 sz="1000">
                <a:solidFill>
                  <a:srgbClr val="233A44"/>
                </a:solidFill>
              </a:rPr>
              <a:t>Used </a:t>
            </a:r>
            <a:r>
              <a:rPr b="1" lang="en" sz="1000">
                <a:solidFill>
                  <a:srgbClr val="233A44"/>
                </a:solidFill>
              </a:rPr>
              <a:t>in‑memory SQLite</a:t>
            </a:r>
            <a:r>
              <a:rPr lang="en" sz="1000">
                <a:solidFill>
                  <a:srgbClr val="233A44"/>
                </a:solidFill>
              </a:rPr>
              <a:t> for deterministic, isolated test runs</a:t>
            </a:r>
            <a:endParaRPr sz="1000"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 sz="1000">
                <a:solidFill>
                  <a:srgbClr val="233A44"/>
                </a:solidFill>
              </a:rPr>
              <a:t>Added </a:t>
            </a:r>
            <a:r>
              <a:rPr b="1" lang="en" sz="1000">
                <a:solidFill>
                  <a:srgbClr val="233A44"/>
                </a:solidFill>
              </a:rPr>
              <a:t>integration tests</a:t>
            </a:r>
            <a:r>
              <a:rPr lang="en" sz="1000">
                <a:solidFill>
                  <a:srgbClr val="233A44"/>
                </a:solidFill>
              </a:rPr>
              <a:t> to validate controller ↔ repository behavior</a:t>
            </a:r>
            <a:endParaRPr sz="1000">
              <a:solidFill>
                <a:srgbClr val="233A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233A44"/>
                </a:solidFill>
              </a:rPr>
              <a:t>Robustness Measures</a:t>
            </a:r>
            <a:endParaRPr b="1" sz="1000"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 sz="1000">
                <a:solidFill>
                  <a:srgbClr val="233A44"/>
                </a:solidFill>
              </a:rPr>
              <a:t>Input validation to prevent invalid data</a:t>
            </a:r>
            <a:endParaRPr sz="1000"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>
                <a:solidFill>
                  <a:srgbClr val="233A44"/>
                </a:solidFill>
              </a:rPr>
              <a:t>e</a:t>
            </a:r>
            <a:r>
              <a:rPr lang="en" sz="1000">
                <a:solidFill>
                  <a:srgbClr val="233A44"/>
                </a:solidFill>
              </a:rPr>
              <a:t>rror handling for missing or incorrect task IDs</a:t>
            </a:r>
            <a:endParaRPr sz="1000"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 sz="1000">
                <a:solidFill>
                  <a:srgbClr val="233A44"/>
                </a:solidFill>
              </a:rPr>
              <a:t>Defensive coding to avoid crashes and inconsistent state</a:t>
            </a:r>
            <a:endParaRPr sz="1000">
              <a:solidFill>
                <a:srgbClr val="233A44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0738" y="1424650"/>
            <a:ext cx="3008287" cy="280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6"/>
          <p:cNvSpPr txBox="1"/>
          <p:nvPr>
            <p:ph type="title"/>
          </p:nvPr>
        </p:nvSpPr>
        <p:spPr>
          <a:xfrm>
            <a:off x="797500" y="450750"/>
            <a:ext cx="28539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Dependency Inversion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(SOLID example)</a:t>
            </a:r>
            <a:endParaRPr sz="2000"/>
          </a:p>
        </p:txBody>
      </p:sp>
      <p:sp>
        <p:nvSpPr>
          <p:cNvPr id="219" name="Google Shape;219;p26"/>
          <p:cNvSpPr txBox="1"/>
          <p:nvPr>
            <p:ph idx="1" type="body"/>
          </p:nvPr>
        </p:nvSpPr>
        <p:spPr>
          <a:xfrm>
            <a:off x="559975" y="1857175"/>
            <a:ext cx="3091500" cy="296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Definition:</a:t>
            </a:r>
            <a:r>
              <a:rPr b="1" lang="en"/>
              <a:t>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High-level modules should not import anything from low-level modules. Both should depend on abstractions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How it’s Used:</a:t>
            </a:r>
            <a:endParaRPr b="1" sz="12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Clr>
                <a:srgbClr val="202122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Task Repo is an abstract class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Sqlite repo is an instance of Task Repo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Task controller uses abstract Task Repo instead of a detailed implementation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ct val="100000"/>
              <a:buFont typeface="Arial"/>
              <a:buChar char="●"/>
            </a:pP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Sqlite repo is a version  injected in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2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What it’s For: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Dependency inversion gives  a more flexible and scalable design. If new 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implementation</a:t>
            </a:r>
            <a:r>
              <a:rPr lang="en" sz="120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was decided (e.g. PostgresRepo), then only  a new repository class would have to be created.</a:t>
            </a:r>
            <a:endParaRPr sz="1200">
              <a:solidFill>
                <a:srgbClr val="202122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26" title="abstract_repo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6250" y="450750"/>
            <a:ext cx="5058499" cy="14918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pic>
        <p:nvPicPr>
          <p:cNvPr id="221" name="Google Shape;221;p26" title="sqllite_implementaion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4450" y="2062925"/>
            <a:ext cx="4270400" cy="7143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  <p:pic>
        <p:nvPicPr>
          <p:cNvPr id="222" name="Google Shape;222;p26" title="dependence_inversion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51713" y="2897588"/>
            <a:ext cx="5153025" cy="14001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/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7"/>
          <p:cNvSpPr txBox="1"/>
          <p:nvPr>
            <p:ph type="title"/>
          </p:nvPr>
        </p:nvSpPr>
        <p:spPr>
          <a:xfrm>
            <a:off x="840900" y="675775"/>
            <a:ext cx="7462200" cy="56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Singleton Pattern</a:t>
            </a:r>
            <a:endParaRPr/>
          </a:p>
        </p:txBody>
      </p:sp>
      <p:sp>
        <p:nvSpPr>
          <p:cNvPr id="228" name="Google Shape;228;p27"/>
          <p:cNvSpPr txBox="1"/>
          <p:nvPr>
            <p:ph idx="1" type="body"/>
          </p:nvPr>
        </p:nvSpPr>
        <p:spPr>
          <a:xfrm>
            <a:off x="4572000" y="1484825"/>
            <a:ext cx="3709200" cy="29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33A44"/>
                </a:solidFill>
              </a:rPr>
              <a:t>What it is</a:t>
            </a:r>
            <a:endParaRPr b="1" sz="12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Ensures only </a:t>
            </a:r>
            <a:r>
              <a:rPr b="1" lang="en" sz="1000">
                <a:solidFill>
                  <a:srgbClr val="233A44"/>
                </a:solidFill>
              </a:rPr>
              <a:t>one instance</a:t>
            </a:r>
            <a:r>
              <a:rPr lang="en" sz="1000">
                <a:solidFill>
                  <a:srgbClr val="233A44"/>
                </a:solidFill>
              </a:rPr>
              <a:t> of the database connection exists</a:t>
            </a:r>
            <a:endParaRPr sz="10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Centralizes access to the SQLite database</a:t>
            </a:r>
            <a:endParaRPr sz="10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Prevents multiple competing connections in the app</a:t>
            </a:r>
            <a:endParaRPr sz="1000">
              <a:solidFill>
                <a:srgbClr val="233A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33A44"/>
                </a:solidFill>
              </a:rPr>
              <a:t>Why we used it</a:t>
            </a:r>
            <a:endParaRPr b="1" sz="12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SQLite doesn’t handle many simultaneous connections well</a:t>
            </a:r>
            <a:endParaRPr sz="10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The app needs a single shared repo for tasks and categories</a:t>
            </a:r>
            <a:endParaRPr sz="10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Simplifies controller → repository communication</a:t>
            </a:r>
            <a:endParaRPr sz="1000">
              <a:solidFill>
                <a:srgbClr val="233A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33A44"/>
                </a:solidFill>
              </a:rPr>
              <a:t>Benefits</a:t>
            </a:r>
            <a:endParaRPr b="1" sz="12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Consistent database state</a:t>
            </a:r>
            <a:endParaRPr sz="10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Lower resource usage</a:t>
            </a:r>
            <a:endParaRPr sz="10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Easy access from anywhere in the app</a:t>
            </a:r>
            <a:endParaRPr sz="1000">
              <a:solidFill>
                <a:srgbClr val="233A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33A44"/>
                </a:solidFill>
              </a:rPr>
              <a:t>Challenges</a:t>
            </a:r>
            <a:endParaRPr b="1" sz="12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Shared global state made testing harder</a:t>
            </a:r>
            <a:endParaRPr sz="10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Tests needed isolation fixtures to avoid leftover data</a:t>
            </a:r>
            <a:endParaRPr sz="1000">
              <a:solidFill>
                <a:srgbClr val="233A44"/>
              </a:solidFill>
            </a:endParaRPr>
          </a:p>
          <a:p>
            <a:pPr indent="-287338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000">
                <a:solidFill>
                  <a:srgbClr val="233A44"/>
                </a:solidFill>
              </a:rPr>
              <a:t>Schema changes required deleting the old DB file</a:t>
            </a:r>
            <a:endParaRPr sz="1000">
              <a:solidFill>
                <a:srgbClr val="233A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9" name="Google Shape;22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100" y="1363475"/>
            <a:ext cx="3843249" cy="328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>
            <p:ph type="title"/>
          </p:nvPr>
        </p:nvSpPr>
        <p:spPr>
          <a:xfrm>
            <a:off x="819150" y="845600"/>
            <a:ext cx="3709200" cy="6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AF7B51"/>
                </a:solidFill>
              </a:rPr>
              <a:t>Testing Overview</a:t>
            </a:r>
            <a:endParaRPr/>
          </a:p>
        </p:txBody>
      </p:sp>
      <p:sp>
        <p:nvSpPr>
          <p:cNvPr id="235" name="Google Shape;235;p28"/>
          <p:cNvSpPr txBox="1"/>
          <p:nvPr>
            <p:ph idx="1" type="body"/>
          </p:nvPr>
        </p:nvSpPr>
        <p:spPr>
          <a:xfrm>
            <a:off x="830700" y="1545500"/>
            <a:ext cx="4011900" cy="28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33A44"/>
                </a:solidFill>
              </a:rPr>
              <a:t>What we tested</a:t>
            </a:r>
            <a:endParaRPr b="1"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>
                <a:solidFill>
                  <a:srgbClr val="233A44"/>
                </a:solidFill>
              </a:rPr>
              <a:t>Controllers (task, category, deadline)</a:t>
            </a:r>
            <a:endParaRPr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>
                <a:solidFill>
                  <a:srgbClr val="233A44"/>
                </a:solidFill>
              </a:rPr>
              <a:t>Repositories (SQL operations)</a:t>
            </a:r>
            <a:endParaRPr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>
                <a:solidFill>
                  <a:srgbClr val="233A44"/>
                </a:solidFill>
              </a:rPr>
              <a:t>Integration flows (end‑to‑end behavior)</a:t>
            </a:r>
            <a:endParaRPr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>
                <a:solidFill>
                  <a:srgbClr val="233A44"/>
                </a:solidFill>
              </a:rPr>
              <a:t>UI initialization (app loads correctly)</a:t>
            </a:r>
            <a:endParaRPr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>
                <a:solidFill>
                  <a:srgbClr val="233A44"/>
                </a:solidFill>
              </a:rPr>
              <a:t>Validation &amp; edge‑case handling</a:t>
            </a:r>
            <a:endParaRPr>
              <a:solidFill>
                <a:srgbClr val="233A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33A44"/>
                </a:solidFill>
              </a:rPr>
              <a:t>Why it matters</a:t>
            </a:r>
            <a:endParaRPr b="1"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>
                <a:solidFill>
                  <a:srgbClr val="233A44"/>
                </a:solidFill>
              </a:rPr>
              <a:t>Ensures correctness across the entire system</a:t>
            </a:r>
            <a:endParaRPr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>
                <a:solidFill>
                  <a:srgbClr val="233A44"/>
                </a:solidFill>
              </a:rPr>
              <a:t>Prevents regressions</a:t>
            </a:r>
            <a:endParaRPr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>
                <a:solidFill>
                  <a:srgbClr val="233A44"/>
                </a:solidFill>
              </a:rPr>
              <a:t>Confirms controllers call the right repo methods</a:t>
            </a:r>
            <a:endParaRPr>
              <a:solidFill>
                <a:srgbClr val="233A44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300"/>
              <a:buChar char="●"/>
            </a:pPr>
            <a:r>
              <a:rPr lang="en">
                <a:solidFill>
                  <a:srgbClr val="233A44"/>
                </a:solidFill>
              </a:rPr>
              <a:t>Guarantees consistent database behavior</a:t>
            </a:r>
            <a:endParaRPr/>
          </a:p>
        </p:txBody>
      </p:sp>
      <p:pic>
        <p:nvPicPr>
          <p:cNvPr id="236" name="Google Shape;236;p28" title="Screenshot 2026-04-05 14372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07450" y="1285875"/>
            <a:ext cx="2953175" cy="289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9"/>
          <p:cNvSpPr txBox="1"/>
          <p:nvPr>
            <p:ph type="title"/>
          </p:nvPr>
        </p:nvSpPr>
        <p:spPr>
          <a:xfrm>
            <a:off x="819150" y="845600"/>
            <a:ext cx="3709200" cy="7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Controller Tests</a:t>
            </a:r>
            <a:endParaRPr/>
          </a:p>
        </p:txBody>
      </p:sp>
      <p:sp>
        <p:nvSpPr>
          <p:cNvPr id="242" name="Google Shape;242;p29"/>
          <p:cNvSpPr txBox="1"/>
          <p:nvPr>
            <p:ph idx="1" type="body"/>
          </p:nvPr>
        </p:nvSpPr>
        <p:spPr>
          <a:xfrm>
            <a:off x="4528350" y="1642400"/>
            <a:ext cx="3709200" cy="279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33A44"/>
                </a:solidFill>
              </a:rPr>
              <a:t>What we tested</a:t>
            </a:r>
            <a:endParaRPr b="1" sz="1200">
              <a:solidFill>
                <a:srgbClr val="233A44"/>
              </a:solidFill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200">
                <a:solidFill>
                  <a:srgbClr val="233A44"/>
                </a:solidFill>
              </a:rPr>
              <a:t>CategoryController</a:t>
            </a:r>
            <a:endParaRPr sz="1200">
              <a:solidFill>
                <a:srgbClr val="233A44"/>
              </a:solidFill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20000"/>
              <a:buChar char="○"/>
            </a:pPr>
            <a:r>
              <a:rPr lang="en" sz="1000">
                <a:solidFill>
                  <a:srgbClr val="233A44"/>
                </a:solidFill>
              </a:rPr>
              <a:t>create, rename, delete category</a:t>
            </a:r>
            <a:endParaRPr sz="1000">
              <a:solidFill>
                <a:srgbClr val="233A44"/>
              </a:solidFill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20000"/>
              <a:buChar char="○"/>
            </a:pPr>
            <a:r>
              <a:rPr lang="en" sz="1000">
                <a:solidFill>
                  <a:srgbClr val="233A44"/>
                </a:solidFill>
              </a:rPr>
              <a:t>assign category to task</a:t>
            </a:r>
            <a:endParaRPr sz="1000">
              <a:solidFill>
                <a:srgbClr val="233A44"/>
              </a:solidFill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20000"/>
              <a:buChar char="○"/>
            </a:pPr>
            <a:r>
              <a:rPr lang="en" sz="1000">
                <a:solidFill>
                  <a:srgbClr val="233A44"/>
                </a:solidFill>
              </a:rPr>
              <a:t>get all categories</a:t>
            </a:r>
            <a:endParaRPr sz="1200">
              <a:solidFill>
                <a:srgbClr val="233A44"/>
              </a:solidFill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200">
                <a:solidFill>
                  <a:srgbClr val="233A44"/>
                </a:solidFill>
              </a:rPr>
              <a:t>TaskController</a:t>
            </a:r>
            <a:endParaRPr sz="1200">
              <a:solidFill>
                <a:srgbClr val="233A44"/>
              </a:solidFill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20000"/>
              <a:buChar char="○"/>
            </a:pPr>
            <a:r>
              <a:rPr lang="en" sz="1000">
                <a:solidFill>
                  <a:srgbClr val="233A44"/>
                </a:solidFill>
              </a:rPr>
              <a:t>add/update/delete task</a:t>
            </a:r>
            <a:endParaRPr sz="1000">
              <a:solidFill>
                <a:srgbClr val="233A44"/>
              </a:solidFill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20000"/>
              <a:buChar char="○"/>
            </a:pPr>
            <a:r>
              <a:rPr lang="en" sz="1000">
                <a:solidFill>
                  <a:srgbClr val="233A44"/>
                </a:solidFill>
              </a:rPr>
              <a:t>mark task done</a:t>
            </a:r>
            <a:endParaRPr sz="1000">
              <a:solidFill>
                <a:srgbClr val="233A44"/>
              </a:solidFill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20000"/>
              <a:buChar char="○"/>
            </a:pPr>
            <a:r>
              <a:rPr lang="en" sz="1000">
                <a:solidFill>
                  <a:srgbClr val="233A44"/>
                </a:solidFill>
              </a:rPr>
              <a:t>reject invalid input</a:t>
            </a:r>
            <a:endParaRPr sz="1200">
              <a:solidFill>
                <a:srgbClr val="233A44"/>
              </a:solidFill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200">
                <a:solidFill>
                  <a:srgbClr val="233A44"/>
                </a:solidFill>
              </a:rPr>
              <a:t>DeadlineController</a:t>
            </a:r>
            <a:endParaRPr sz="1200">
              <a:solidFill>
                <a:srgbClr val="233A44"/>
              </a:solidFill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20000"/>
              <a:buChar char="○"/>
            </a:pPr>
            <a:r>
              <a:rPr lang="en" sz="1000">
                <a:solidFill>
                  <a:srgbClr val="233A44"/>
                </a:solidFill>
              </a:rPr>
              <a:t>set/update/remove deadlines</a:t>
            </a:r>
            <a:endParaRPr sz="1000">
              <a:solidFill>
                <a:srgbClr val="233A44"/>
              </a:solidFill>
            </a:endParaRPr>
          </a:p>
          <a:p>
            <a:pPr indent="-29908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20000"/>
              <a:buChar char="○"/>
            </a:pPr>
            <a:r>
              <a:rPr lang="en" sz="1000">
                <a:solidFill>
                  <a:srgbClr val="233A44"/>
                </a:solidFill>
              </a:rPr>
              <a:t>get overdue tasks</a:t>
            </a:r>
            <a:endParaRPr sz="1000">
              <a:solidFill>
                <a:srgbClr val="233A44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33A44"/>
                </a:solidFill>
              </a:rPr>
              <a:t>Why it matters</a:t>
            </a:r>
            <a:endParaRPr b="1" sz="1200">
              <a:solidFill>
                <a:srgbClr val="233A44"/>
              </a:solidFill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200">
                <a:solidFill>
                  <a:srgbClr val="233A44"/>
                </a:solidFill>
              </a:rPr>
              <a:t>Ensures UI actions trigger the correct logic</a:t>
            </a:r>
            <a:endParaRPr sz="1200">
              <a:solidFill>
                <a:srgbClr val="233A44"/>
              </a:solidFill>
            </a:endParaRPr>
          </a:p>
          <a:p>
            <a:pPr indent="-29908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ct val="100000"/>
              <a:buChar char="●"/>
            </a:pPr>
            <a:r>
              <a:rPr lang="en" sz="1200">
                <a:solidFill>
                  <a:srgbClr val="233A44"/>
                </a:solidFill>
              </a:rPr>
              <a:t>Prevents invalid data from reaching the database</a:t>
            </a:r>
            <a:endParaRPr sz="1200">
              <a:solidFill>
                <a:srgbClr val="233A4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3" name="Google Shape;243;p29" title="Screenshot 2026-04-05 1452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150" y="1533225"/>
            <a:ext cx="3879853" cy="163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Repository Tests</a:t>
            </a:r>
            <a:endParaRPr/>
          </a:p>
        </p:txBody>
      </p:sp>
      <p:sp>
        <p:nvSpPr>
          <p:cNvPr id="249" name="Google Shape;249;p30"/>
          <p:cNvSpPr txBox="1"/>
          <p:nvPr>
            <p:ph idx="1" type="body"/>
          </p:nvPr>
        </p:nvSpPr>
        <p:spPr>
          <a:xfrm>
            <a:off x="4528350" y="1496950"/>
            <a:ext cx="3709200" cy="29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33A44"/>
                </a:solidFill>
              </a:rPr>
              <a:t>What we tested</a:t>
            </a:r>
            <a:endParaRPr b="1"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TaskRepository</a:t>
            </a:r>
            <a:endParaRPr sz="1200">
              <a:solidFill>
                <a:srgbClr val="233A44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○"/>
            </a:pPr>
            <a:r>
              <a:rPr lang="en" sz="1000">
                <a:solidFill>
                  <a:srgbClr val="233A44"/>
                </a:solidFill>
              </a:rPr>
              <a:t>add task returns new ID</a:t>
            </a:r>
            <a:endParaRPr sz="1000">
              <a:solidFill>
                <a:srgbClr val="233A44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○"/>
            </a:pPr>
            <a:r>
              <a:rPr lang="en" sz="1000">
                <a:solidFill>
                  <a:srgbClr val="233A44"/>
                </a:solidFill>
              </a:rPr>
              <a:t>update task text</a:t>
            </a:r>
            <a:endParaRPr sz="1000">
              <a:solidFill>
                <a:srgbClr val="233A44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○"/>
            </a:pPr>
            <a:r>
              <a:rPr lang="en" sz="1000">
                <a:solidFill>
                  <a:srgbClr val="233A44"/>
                </a:solidFill>
              </a:rPr>
              <a:t>delete task removes row</a:t>
            </a:r>
            <a:endParaRPr sz="1000">
              <a:solidFill>
                <a:srgbClr val="233A44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○"/>
            </a:pPr>
            <a:r>
              <a:rPr lang="en" sz="1000">
                <a:solidFill>
                  <a:srgbClr val="233A44"/>
                </a:solidFill>
              </a:rPr>
              <a:t>mark done sets done = 1</a:t>
            </a:r>
            <a:endParaRPr sz="1000">
              <a:solidFill>
                <a:srgbClr val="233A44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○"/>
            </a:pPr>
            <a:r>
              <a:rPr lang="en" sz="1000">
                <a:solidFill>
                  <a:srgbClr val="233A44"/>
                </a:solidFill>
              </a:rPr>
              <a:t>multiple tasks behave correctly</a:t>
            </a:r>
            <a:endParaRPr sz="10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DeadlineRepository</a:t>
            </a:r>
            <a:endParaRPr sz="1200">
              <a:solidFill>
                <a:srgbClr val="233A44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○"/>
            </a:pPr>
            <a:r>
              <a:rPr lang="en" sz="1000">
                <a:solidFill>
                  <a:srgbClr val="233A44"/>
                </a:solidFill>
              </a:rPr>
              <a:t>set/update/remove deadlines</a:t>
            </a:r>
            <a:endParaRPr sz="1000">
              <a:solidFill>
                <a:srgbClr val="233A44"/>
              </a:solidFill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○"/>
            </a:pPr>
            <a:r>
              <a:rPr lang="en" sz="1000">
                <a:solidFill>
                  <a:srgbClr val="233A44"/>
                </a:solidFill>
              </a:rPr>
              <a:t>overdue task queries</a:t>
            </a:r>
            <a:endParaRPr sz="1000">
              <a:solidFill>
                <a:srgbClr val="233A44"/>
              </a:solidFill>
            </a:endParaRPr>
          </a:p>
          <a:p>
            <a:pPr indent="0" lvl="0" marL="152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33A44"/>
                </a:solidFill>
              </a:rPr>
              <a:t>Why it matters</a:t>
            </a:r>
            <a:endParaRPr b="1"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Ensures database consistency</a:t>
            </a:r>
            <a:endParaRPr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Confirms schema and queries work as intended</a:t>
            </a:r>
            <a:endParaRPr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Prevents data corruption</a:t>
            </a:r>
            <a:endParaRPr/>
          </a:p>
        </p:txBody>
      </p:sp>
      <p:pic>
        <p:nvPicPr>
          <p:cNvPr id="250" name="Google Shape;250;p30" title="Screenshot 2026-04-05 1456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925" y="1633725"/>
            <a:ext cx="4209425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819150" y="845600"/>
            <a:ext cx="7857000" cy="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Integration</a:t>
            </a:r>
            <a:r>
              <a:rPr lang="en"/>
              <a:t> and UI testing</a:t>
            </a:r>
            <a:endParaRPr/>
          </a:p>
        </p:txBody>
      </p:sp>
      <p:sp>
        <p:nvSpPr>
          <p:cNvPr id="256" name="Google Shape;256;p31"/>
          <p:cNvSpPr txBox="1"/>
          <p:nvPr>
            <p:ph idx="1" type="body"/>
          </p:nvPr>
        </p:nvSpPr>
        <p:spPr>
          <a:xfrm>
            <a:off x="830700" y="1484900"/>
            <a:ext cx="3709200" cy="29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33A44"/>
                </a:solidFill>
              </a:rPr>
              <a:t>Integration tests</a:t>
            </a:r>
            <a:endParaRPr b="1"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Add → mark done</a:t>
            </a:r>
            <a:endParaRPr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Add → edit → delete</a:t>
            </a:r>
            <a:endParaRPr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Verifies controller + repository + DB work together</a:t>
            </a:r>
            <a:endParaRPr sz="1200">
              <a:solidFill>
                <a:srgbClr val="233A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33A44"/>
                </a:solidFill>
              </a:rPr>
              <a:t>UI tests</a:t>
            </a:r>
            <a:endParaRPr b="1"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App initializes correctly</a:t>
            </a:r>
            <a:endParaRPr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Hamburger menu loads</a:t>
            </a:r>
            <a:endParaRPr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Menu items trigger actions</a:t>
            </a:r>
            <a:endParaRPr sz="1200">
              <a:solidFill>
                <a:srgbClr val="233A44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233A44"/>
                </a:solidFill>
              </a:rPr>
              <a:t>Why these matter</a:t>
            </a:r>
            <a:endParaRPr b="1"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Validate real user flows</a:t>
            </a:r>
            <a:endParaRPr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Ensure the system works end‑to‑end</a:t>
            </a:r>
            <a:endParaRPr sz="1200">
              <a:solidFill>
                <a:srgbClr val="233A44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3A44"/>
              </a:buClr>
              <a:buSzPts val="1200"/>
              <a:buChar char="●"/>
            </a:pPr>
            <a:r>
              <a:rPr lang="en" sz="1200">
                <a:solidFill>
                  <a:srgbClr val="233A44"/>
                </a:solidFill>
              </a:rPr>
              <a:t>Catch issues unit tests can’t see</a:t>
            </a:r>
            <a:endParaRPr/>
          </a:p>
        </p:txBody>
      </p:sp>
      <p:pic>
        <p:nvPicPr>
          <p:cNvPr id="257" name="Google Shape;257;p31" title="Screenshot 2026-04-05 1449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3325" y="1484900"/>
            <a:ext cx="4634000" cy="1457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Enhancements</a:t>
            </a:r>
            <a:endParaRPr/>
          </a:p>
        </p:txBody>
      </p:sp>
      <p:sp>
        <p:nvSpPr>
          <p:cNvPr id="263" name="Google Shape;263;p32"/>
          <p:cNvSpPr txBox="1"/>
          <p:nvPr>
            <p:ph idx="1" type="body"/>
          </p:nvPr>
        </p:nvSpPr>
        <p:spPr>
          <a:xfrm>
            <a:off x="819150" y="185687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Experience (UX) Enhancements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Dynamic Views: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Ability to toggle between Card and List layouts.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 Completion: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Visually strike-through or move finished tasks to a completed list.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Notifications &amp; Deadlines: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Add date validation and push alerts for upcoming due dates.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Architecture &amp; Scalability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Factory Pattern: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Refactor task creation to easily support new task types.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Configuration File: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Extract hard-coded values (like UI colors) into a central config file for easier maintenance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